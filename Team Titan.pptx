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770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0480" y="777240"/>
            <a:ext cx="12161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00"/>
                </a:solidFill>
              </a:rPr>
              <a:t>BUILD-X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0" y="1965960"/>
            <a:ext cx="12161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Suraksha Setu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0" y="297180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Security &amp; Emergency Response Platform for Nagpur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709160" y="3657600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8C1D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709160" y="3657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6 – Security Management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794760" y="4663440"/>
            <a:ext cx="4572000" cy="1417320"/>
          </a:xfrm>
          <a:prstGeom prst="roundRect">
            <a:avLst>
              <a:gd name="adj" fmla="val 5161"/>
            </a:avLst>
          </a:prstGeom>
          <a:solidFill>
            <a:srgbClr val="273270"/>
          </a:solidFill>
          <a:ln w="12700">
            <a:solidFill>
              <a:srgbClr val="42509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023360" y="4777273"/>
            <a:ext cx="4114800" cy="1222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9FB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Anup Wasankar</a:t>
            </a:r>
          </a:p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   Aditi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Zamde</a:t>
            </a:r>
            <a:endParaRPr lang="en-US" sz="13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   Palak Shende</a:t>
            </a:r>
          </a:p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   Sidharth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Survase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04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143000"/>
            <a:ext cx="64922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24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Suraksha Setu is a single digital platform that connects citizens, volunteers and the police control room during large public gatherings and everyday emergencies.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24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brings missing-person alerts, crowd-density monitoring, personal-safety SOS and anonymous incident reporting onto one shared dashboard — replacing paper registers, loudspeakers and scattered phone calls.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24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around a real scenario at Deekshabhoomi, where several lakh people gather and a 6-year-old girl goes missing for almost two hours because information never reaches the right desk in time.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818120" y="1143000"/>
            <a:ext cx="38404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DCEE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01000" y="12344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C1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1hr 50min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001000" y="180136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locating a missing child on paper records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818120" y="2624328"/>
            <a:ext cx="38404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DCEE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01000" y="271576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C1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Lakhs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8001000" y="3282696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people gather at a single event with no crowd-density view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818120" y="4105656"/>
            <a:ext cx="38404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DCEE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01000" y="4197096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C1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8001000" y="4764024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systems between police, volunteers and control room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04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23444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23444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4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missing-person reports instantly to every police desk and volunteer, replacing paper registers.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947672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94767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4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control room a real-time crowd-density heatmap of the event ground.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660904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6609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4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any citizen trigger a silent SOS with live location during a personal-safety threat.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3374136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374136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4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anonymous, photo-based incident reporting for crimes such as chain-snatching.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4087368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0873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4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Curb misinformation by restricting public ‘sighting’ posts to verified police/volunteer accounts.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480060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80060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4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police, SDRF, fire brigade and volunteers onto one coordinated dashboard.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04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PROBLEM AREAS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356616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9050">
            <a:solidFill>
              <a:srgbClr val="DCEE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4088" y="1389888"/>
            <a:ext cx="502920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04088" y="1554480"/>
            <a:ext cx="3163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Persons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04088" y="1993392"/>
            <a:ext cx="31638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 recorded on paper; other desks and volunteers learn nothing until word spreads by chance.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25112" y="1188720"/>
            <a:ext cx="356616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9050">
            <a:solidFill>
              <a:srgbClr val="DCEE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26280" y="1389888"/>
            <a:ext cx="502920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26280" y="1554480"/>
            <a:ext cx="3163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Crowd Density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1993392"/>
            <a:ext cx="31638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view of how full an exit or lane is until it is already dangerously congested.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47304" y="1188720"/>
            <a:ext cx="356616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9050">
            <a:solidFill>
              <a:srgbClr val="DCEE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48472" y="1389888"/>
            <a:ext cx="502920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48472" y="1554480"/>
            <a:ext cx="3163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 Safety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348472" y="1993392"/>
            <a:ext cx="31638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commuter in a shared auto or alone at night has no quick way to alert trusted contacts.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3593592"/>
            <a:ext cx="356616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9050">
            <a:solidFill>
              <a:srgbClr val="DCEE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" y="3794760"/>
            <a:ext cx="502920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04088" y="3959352"/>
            <a:ext cx="3163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Silent Reporting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04088" y="4398264"/>
            <a:ext cx="31638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Witnesses to crimes like chain-snatching hesitate to report because naming themselves feels risky.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325112" y="3593592"/>
            <a:ext cx="356616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9050">
            <a:solidFill>
              <a:srgbClr val="DCEE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26280" y="3794760"/>
            <a:ext cx="502920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26280" y="3959352"/>
            <a:ext cx="3163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Misinformation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526280" y="4398264"/>
            <a:ext cx="31638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Unverified ‘sighting’ posts on social media spread panic and false leads during a search.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147304" y="3593592"/>
            <a:ext cx="356616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9050">
            <a:solidFill>
              <a:srgbClr val="DCEE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48472" y="3794760"/>
            <a:ext cx="502920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348472" y="3959352"/>
            <a:ext cx="3163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Fragmented Response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8348472" y="4398264"/>
            <a:ext cx="31638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Police, SDRF, fire brigade and volunteers each work from their own information silo.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04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APPROACH &amp; GAPS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23444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C1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123444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4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Missing-person help desks at large events still rely on handwritten registers with no way to broadcast details instantly to other desks.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19456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C1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19456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4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 management today depends on manual headcounts, walkie-talkie chatter and officer judgement rather than live density data.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15468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C1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1546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4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Personal-safety apps in the market mostly offer a single panic button; very few combine route-deviation detection with silent alerting.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411480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C1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411480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4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crime-reporting channels exist in some cities, but they are not integrated with the same platform citizens already use for other safety needs.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04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METHODOLOGY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950976" y="1508760"/>
            <a:ext cx="2331720" cy="960120"/>
          </a:xfrm>
          <a:prstGeom prst="roundRect">
            <a:avLst>
              <a:gd name="adj" fmla="val 6667"/>
            </a:avLst>
          </a:prstGeom>
          <a:solidFill>
            <a:srgbClr val="045F6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24128" y="1508760"/>
            <a:ext cx="21854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Occurs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3282696" y="1508760"/>
            <a:ext cx="320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C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02736" y="1508760"/>
            <a:ext cx="2331720" cy="960120"/>
          </a:xfrm>
          <a:prstGeom prst="roundRect">
            <a:avLst>
              <a:gd name="adj" fmla="val 6667"/>
            </a:avLst>
          </a:prstGeom>
          <a:solidFill>
            <a:srgbClr val="045F6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675888" y="1508760"/>
            <a:ext cx="21854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via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/ SOS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934456" y="1508760"/>
            <a:ext cx="320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C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254496" y="1508760"/>
            <a:ext cx="2331720" cy="960120"/>
          </a:xfrm>
          <a:prstGeom prst="roundRect">
            <a:avLst>
              <a:gd name="adj" fmla="val 6667"/>
            </a:avLst>
          </a:prstGeom>
          <a:solidFill>
            <a:srgbClr val="045F6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27648" y="1508760"/>
            <a:ext cx="21854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Matching /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Geo-tagging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586216" y="1508760"/>
            <a:ext cx="320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C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906256" y="1508760"/>
            <a:ext cx="2331720" cy="960120"/>
          </a:xfrm>
          <a:prstGeom prst="roundRect">
            <a:avLst>
              <a:gd name="adj" fmla="val 6667"/>
            </a:avLst>
          </a:prstGeom>
          <a:solidFill>
            <a:srgbClr val="045F6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79408" y="1508760"/>
            <a:ext cx="21854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Pushed to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Room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276856" y="3063240"/>
            <a:ext cx="2331720" cy="960120"/>
          </a:xfrm>
          <a:prstGeom prst="roundRect">
            <a:avLst>
              <a:gd name="adj" fmla="val 6667"/>
            </a:avLst>
          </a:prstGeom>
          <a:solidFill>
            <a:srgbClr val="045F6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350008" y="3063240"/>
            <a:ext cx="21854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Volunteer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Police Notified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608576" y="3063240"/>
            <a:ext cx="320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C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928616" y="3063240"/>
            <a:ext cx="2331720" cy="960120"/>
          </a:xfrm>
          <a:prstGeom prst="roundRect">
            <a:avLst>
              <a:gd name="adj" fmla="val 6667"/>
            </a:avLst>
          </a:prstGeom>
          <a:solidFill>
            <a:srgbClr val="045F6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001768" y="3063240"/>
            <a:ext cx="21854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Dispatched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7260336" y="3063240"/>
            <a:ext cx="320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C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580376" y="3063240"/>
            <a:ext cx="2331720" cy="960120"/>
          </a:xfrm>
          <a:prstGeom prst="roundRect">
            <a:avLst>
              <a:gd name="adj" fmla="val 6667"/>
            </a:avLst>
          </a:prstGeom>
          <a:solidFill>
            <a:srgbClr val="045F6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653528" y="3063240"/>
            <a:ext cx="21854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Logged &amp;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461772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incident — a missing child, a crowd surge, or a silent SOS — moves from report to resolution over one shared pipeline instead of separate phone calls.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04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ARCHITECTURE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659636" y="1051560"/>
            <a:ext cx="8869680" cy="502920"/>
          </a:xfrm>
          <a:prstGeom prst="roundRect">
            <a:avLst>
              <a:gd name="adj" fmla="val 9091"/>
            </a:avLst>
          </a:prstGeom>
          <a:solidFill>
            <a:srgbClr val="045F6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842516" y="10515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/ Volunteer / Control Room Apps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659636" y="1673352"/>
            <a:ext cx="8869680" cy="50292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842516" y="16733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 (Auth, Rate-limiting, Routing)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659636" y="2295144"/>
            <a:ext cx="8869680" cy="502920"/>
          </a:xfrm>
          <a:prstGeom prst="roundRect">
            <a:avLst>
              <a:gd name="adj" fmla="val 9091"/>
            </a:avLst>
          </a:prstGeom>
          <a:solidFill>
            <a:srgbClr val="045F6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842516" y="2295144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Services: Alert Engine · Crowd Analytics · SOS Engine · Reporting Engine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659636" y="2916936"/>
            <a:ext cx="8869680" cy="50292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842516" y="2916936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Layer: Face-Matching · Density Estimation · Route-Deviation Detection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659636" y="3538728"/>
            <a:ext cx="8869680" cy="502920"/>
          </a:xfrm>
          <a:prstGeom prst="roundRect">
            <a:avLst>
              <a:gd name="adj" fmla="val 9091"/>
            </a:avLst>
          </a:prstGeom>
          <a:solidFill>
            <a:srgbClr val="045F6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842516" y="353872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Cloud Infrastructure (encrypted, auto-purge)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4434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5F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Choices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4846320"/>
            <a:ext cx="1211580" cy="365760"/>
          </a:xfrm>
          <a:prstGeom prst="roundRect">
            <a:avLst>
              <a:gd name="adj" fmla="val 50000"/>
            </a:avLst>
          </a:prstGeom>
          <a:solidFill>
            <a:srgbClr val="DCEEEC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2920" y="4846320"/>
            <a:ext cx="12115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4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(App)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97380" y="4846320"/>
            <a:ext cx="1522476" cy="365760"/>
          </a:xfrm>
          <a:prstGeom prst="roundRect">
            <a:avLst>
              <a:gd name="adj" fmla="val 50000"/>
            </a:avLst>
          </a:prstGeom>
          <a:solidFill>
            <a:srgbClr val="DCEEEC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897380" y="4846320"/>
            <a:ext cx="15224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4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02736" y="4846320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DCEEEC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602736" y="48463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4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/ MongoDB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385816" y="4846320"/>
            <a:ext cx="1367028" cy="365760"/>
          </a:xfrm>
          <a:prstGeom prst="roundRect">
            <a:avLst>
              <a:gd name="adj" fmla="val 50000"/>
            </a:avLst>
          </a:prstGeom>
          <a:solidFill>
            <a:srgbClr val="DCEEEC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385816" y="4846320"/>
            <a:ext cx="13670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4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Lite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35724" y="4846320"/>
            <a:ext cx="1367028" cy="365760"/>
          </a:xfrm>
          <a:prstGeom prst="roundRect">
            <a:avLst>
              <a:gd name="adj" fmla="val 50000"/>
            </a:avLst>
          </a:prstGeom>
          <a:solidFill>
            <a:srgbClr val="DCEEEC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935724" y="4846320"/>
            <a:ext cx="13670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4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API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485632" y="4846320"/>
            <a:ext cx="1367028" cy="365760"/>
          </a:xfrm>
          <a:prstGeom prst="roundRect">
            <a:avLst>
              <a:gd name="adj" fmla="val 50000"/>
            </a:avLst>
          </a:prstGeom>
          <a:solidFill>
            <a:srgbClr val="DCEEEC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485632" y="4846320"/>
            <a:ext cx="13670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4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+ FCM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035540" y="4846320"/>
            <a:ext cx="1367028" cy="365760"/>
          </a:xfrm>
          <a:prstGeom prst="roundRect">
            <a:avLst>
              <a:gd name="adj" fmla="val 50000"/>
            </a:avLst>
          </a:prstGeom>
          <a:solidFill>
            <a:srgbClr val="DCEEEC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035540" y="4846320"/>
            <a:ext cx="13670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4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/ GCP Cloud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04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INTERACTIVE PROTOTYPE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502920" y="1143000"/>
            <a:ext cx="2468880" cy="4480560"/>
          </a:xfrm>
          <a:prstGeom prst="roundRect">
            <a:avLst>
              <a:gd name="adj" fmla="val 8148"/>
            </a:avLst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621792" y="1435608"/>
            <a:ext cx="2231136" cy="3703320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58952" y="160020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Suraksha Setu App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22376" y="2011680"/>
            <a:ext cx="2029968" cy="713232"/>
          </a:xfrm>
          <a:prstGeom prst="roundRect">
            <a:avLst>
              <a:gd name="adj" fmla="val 8974"/>
            </a:avLst>
          </a:prstGeom>
          <a:solidFill>
            <a:srgbClr val="DCEEE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32104" y="20848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4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Home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32104" y="23591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Missing-person CTA + quick actions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22376" y="2834640"/>
            <a:ext cx="2029968" cy="713232"/>
          </a:xfrm>
          <a:prstGeom prst="roundRect">
            <a:avLst>
              <a:gd name="adj" fmla="val 8974"/>
            </a:avLst>
          </a:prstGeom>
          <a:solidFill>
            <a:srgbClr val="DCEEE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32104" y="29077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4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🆘  SOS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32104" y="318211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3-sec silent hold → trusted contacts alerted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22376" y="3657600"/>
            <a:ext cx="2029968" cy="713232"/>
          </a:xfrm>
          <a:prstGeom prst="roundRect">
            <a:avLst>
              <a:gd name="adj" fmla="val 8974"/>
            </a:avLst>
          </a:prstGeom>
          <a:solidFill>
            <a:srgbClr val="DCEEE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2104" y="3730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4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Report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" y="40050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person / anonymous incident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22376" y="4480560"/>
            <a:ext cx="2029968" cy="713232"/>
          </a:xfrm>
          <a:prstGeom prst="roundRect">
            <a:avLst>
              <a:gd name="adj" fmla="val 8974"/>
            </a:avLst>
          </a:prstGeom>
          <a:solidFill>
            <a:srgbClr val="DCEEE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2104" y="45537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4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Alerts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" y="482803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gate-wise crowd density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3017520" y="30632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C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2926080" y="3675888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</a:t>
            </a:r>
            <a:endParaRPr lang="en-US" sz="85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749040" y="1143000"/>
            <a:ext cx="7936992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9050">
            <a:solidFill>
              <a:srgbClr val="DCEE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977640" y="1307592"/>
            <a:ext cx="7479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Room Dashboard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977640" y="1691640"/>
            <a:ext cx="1801368" cy="4572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977640" y="1691640"/>
            <a:ext cx="1801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FD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Active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870448" y="1691640"/>
            <a:ext cx="1801368" cy="4572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870448" y="1691640"/>
            <a:ext cx="1801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FD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Missing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763256" y="1691640"/>
            <a:ext cx="1801368" cy="4572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763256" y="1691640"/>
            <a:ext cx="1801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FD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11min Avg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656064" y="1691640"/>
            <a:ext cx="1801368" cy="4572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656064" y="1691640"/>
            <a:ext cx="1801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FD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 Peak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3977640" y="2331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4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Map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977640" y="2679192"/>
            <a:ext cx="566928" cy="566928"/>
          </a:xfrm>
          <a:prstGeom prst="roundRect">
            <a:avLst>
              <a:gd name="adj" fmla="val 6452"/>
            </a:avLst>
          </a:prstGeom>
          <a:solidFill>
            <a:srgbClr val="028090"/>
          </a:solidFill>
          <a:ln/>
        </p:spPr>
      </p:sp>
      <p:sp>
        <p:nvSpPr>
          <p:cNvPr id="32" name="Shape 30"/>
          <p:cNvSpPr/>
          <p:nvPr/>
        </p:nvSpPr>
        <p:spPr>
          <a:xfrm>
            <a:off x="4617720" y="2679192"/>
            <a:ext cx="566928" cy="566928"/>
          </a:xfrm>
          <a:prstGeom prst="roundRect">
            <a:avLst>
              <a:gd name="adj" fmla="val 6452"/>
            </a:avLst>
          </a:prstGeom>
          <a:solidFill>
            <a:srgbClr val="B8860B"/>
          </a:solidFill>
          <a:ln/>
        </p:spPr>
      </p:sp>
      <p:sp>
        <p:nvSpPr>
          <p:cNvPr id="33" name="Shape 31"/>
          <p:cNvSpPr/>
          <p:nvPr/>
        </p:nvSpPr>
        <p:spPr>
          <a:xfrm>
            <a:off x="5257800" y="2679192"/>
            <a:ext cx="566928" cy="566928"/>
          </a:xfrm>
          <a:prstGeom prst="roundRect">
            <a:avLst>
              <a:gd name="adj" fmla="val 6452"/>
            </a:avLst>
          </a:prstGeom>
          <a:solidFill>
            <a:srgbClr val="8C1D2B"/>
          </a:solidFill>
          <a:ln/>
        </p:spPr>
      </p:sp>
      <p:sp>
        <p:nvSpPr>
          <p:cNvPr id="34" name="Shape 32"/>
          <p:cNvSpPr/>
          <p:nvPr/>
        </p:nvSpPr>
        <p:spPr>
          <a:xfrm>
            <a:off x="3977640" y="3319272"/>
            <a:ext cx="566928" cy="566928"/>
          </a:xfrm>
          <a:prstGeom prst="roundRect">
            <a:avLst>
              <a:gd name="adj" fmla="val 6452"/>
            </a:avLst>
          </a:prstGeom>
          <a:solidFill>
            <a:srgbClr val="028090"/>
          </a:solidFill>
          <a:ln/>
        </p:spPr>
      </p:sp>
      <p:sp>
        <p:nvSpPr>
          <p:cNvPr id="35" name="Shape 33"/>
          <p:cNvSpPr/>
          <p:nvPr/>
        </p:nvSpPr>
        <p:spPr>
          <a:xfrm>
            <a:off x="4617720" y="3319272"/>
            <a:ext cx="566928" cy="566928"/>
          </a:xfrm>
          <a:prstGeom prst="roundRect">
            <a:avLst>
              <a:gd name="adj" fmla="val 6452"/>
            </a:avLst>
          </a:prstGeom>
          <a:solidFill>
            <a:srgbClr val="028090"/>
          </a:solidFill>
          <a:ln/>
        </p:spPr>
      </p:sp>
      <p:sp>
        <p:nvSpPr>
          <p:cNvPr id="36" name="Shape 34"/>
          <p:cNvSpPr/>
          <p:nvPr/>
        </p:nvSpPr>
        <p:spPr>
          <a:xfrm>
            <a:off x="5257800" y="3319272"/>
            <a:ext cx="566928" cy="566928"/>
          </a:xfrm>
          <a:prstGeom prst="roundRect">
            <a:avLst>
              <a:gd name="adj" fmla="val 6452"/>
            </a:avLst>
          </a:prstGeom>
          <a:solidFill>
            <a:srgbClr val="028090"/>
          </a:solidFill>
          <a:ln/>
        </p:spPr>
      </p:sp>
      <p:sp>
        <p:nvSpPr>
          <p:cNvPr id="37" name="Shape 35"/>
          <p:cNvSpPr/>
          <p:nvPr/>
        </p:nvSpPr>
        <p:spPr>
          <a:xfrm>
            <a:off x="3977640" y="3959352"/>
            <a:ext cx="566928" cy="566928"/>
          </a:xfrm>
          <a:prstGeom prst="roundRect">
            <a:avLst>
              <a:gd name="adj" fmla="val 6452"/>
            </a:avLst>
          </a:prstGeom>
          <a:solidFill>
            <a:srgbClr val="8C1D2B"/>
          </a:solidFill>
          <a:ln/>
        </p:spPr>
      </p:sp>
      <p:sp>
        <p:nvSpPr>
          <p:cNvPr id="38" name="Shape 36"/>
          <p:cNvSpPr/>
          <p:nvPr/>
        </p:nvSpPr>
        <p:spPr>
          <a:xfrm>
            <a:off x="4617720" y="3959352"/>
            <a:ext cx="566928" cy="566928"/>
          </a:xfrm>
          <a:prstGeom prst="roundRect">
            <a:avLst>
              <a:gd name="adj" fmla="val 6452"/>
            </a:avLst>
          </a:prstGeom>
          <a:solidFill>
            <a:srgbClr val="B8860B"/>
          </a:solidFill>
          <a:ln/>
        </p:spPr>
      </p:sp>
      <p:sp>
        <p:nvSpPr>
          <p:cNvPr id="39" name="Shape 37"/>
          <p:cNvSpPr/>
          <p:nvPr/>
        </p:nvSpPr>
        <p:spPr>
          <a:xfrm>
            <a:off x="5257800" y="3959352"/>
            <a:ext cx="566928" cy="566928"/>
          </a:xfrm>
          <a:prstGeom prst="roundRect">
            <a:avLst>
              <a:gd name="adj" fmla="val 6452"/>
            </a:avLst>
          </a:prstGeom>
          <a:solidFill>
            <a:srgbClr val="028090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217920" y="2331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4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Feed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217920" y="2679192"/>
            <a:ext cx="5239512" cy="384048"/>
          </a:xfrm>
          <a:prstGeom prst="roundRect">
            <a:avLst>
              <a:gd name="adj" fmla="val 11905"/>
            </a:avLst>
          </a:prstGeom>
          <a:solidFill>
            <a:srgbClr val="F6F4ED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327648" y="2679192"/>
            <a:ext cx="5010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4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Density alert – Gate 3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217920" y="3136392"/>
            <a:ext cx="5239512" cy="384048"/>
          </a:xfrm>
          <a:prstGeom prst="roundRect">
            <a:avLst>
              <a:gd name="adj" fmla="val 11905"/>
            </a:avLst>
          </a:prstGeom>
          <a:solidFill>
            <a:srgbClr val="F6F4ED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6327648" y="3136392"/>
            <a:ext cx="5010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4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👮 Volunteer dispatched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217920" y="3593592"/>
            <a:ext cx="5239512" cy="384048"/>
          </a:xfrm>
          <a:prstGeom prst="roundRect">
            <a:avLst>
              <a:gd name="adj" fmla="val 11905"/>
            </a:avLst>
          </a:prstGeom>
          <a:solidFill>
            <a:srgbClr val="F6F4ED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6327648" y="3593592"/>
            <a:ext cx="5010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4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CCTV match found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217920" y="4050792"/>
            <a:ext cx="5239512" cy="384048"/>
          </a:xfrm>
          <a:prstGeom prst="roundRect">
            <a:avLst>
              <a:gd name="adj" fmla="val 11905"/>
            </a:avLst>
          </a:prstGeom>
          <a:solidFill>
            <a:srgbClr val="F6F4ED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6327648" y="4050792"/>
            <a:ext cx="5010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4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🆘 Silent SOS triggered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3977640" y="4846320"/>
            <a:ext cx="7479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SOS, report and density spike from the app lands here instantly — one shared view instead of scattered radios and phone calls.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02920" y="5806440"/>
            <a:ext cx="11183112" cy="658368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731520" y="5806440"/>
            <a:ext cx="10725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FD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live: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clickable prototype of both screens above is ready to open on-screen during Q&amp;A.</a:t>
            </a:r>
            <a:endParaRPr lang="en-US" sz="1250" dirty="0"/>
          </a:p>
        </p:txBody>
      </p:sp>
      <p:sp>
        <p:nvSpPr>
          <p:cNvPr id="52" name="Text 50"/>
          <p:cNvSpPr txBox="1"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04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MODULES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3017520" cy="841248"/>
          </a:xfrm>
          <a:prstGeom prst="roundRect">
            <a:avLst>
              <a:gd name="adj" fmla="val 6522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Missing Person Alert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3749040" y="1188720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4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push notification with photo and last-seen location to every desk and volunteer; CCTV-based face matching flags sightings automatically.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2157984"/>
            <a:ext cx="3017520" cy="841248"/>
          </a:xfrm>
          <a:prstGeom prst="roundRect">
            <a:avLst>
              <a:gd name="adj" fmla="val 6522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157984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Crowd Density Dashboard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749040" y="215798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4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heatmap from CCTV and anonymised app-location clusters; auto-alerts the control room when an exit crosses a safe-density threshold.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3127248"/>
            <a:ext cx="3017520" cy="841248"/>
          </a:xfrm>
          <a:prstGeom prst="roundRect">
            <a:avLst>
              <a:gd name="adj" fmla="val 6522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3127248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Personal Safety SOS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749040" y="3127248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4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route deviation for shared autos/cabs and auto-alerts trusted contacts; a silent 3-second hold sends a direct alert to police.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4096512"/>
            <a:ext cx="3017520" cy="841248"/>
          </a:xfrm>
          <a:prstGeom prst="roundRect">
            <a:avLst>
              <a:gd name="adj" fmla="val 6522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4096512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Anonymous Incident Reporting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749040" y="4096512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4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Photo/video evidence with auto-tagged location, submitted without revealing the reporter’s identity; high-priority crimes are auto-flagged.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5065776"/>
            <a:ext cx="3017520" cy="841248"/>
          </a:xfrm>
          <a:prstGeom prst="roundRect">
            <a:avLst>
              <a:gd name="adj" fmla="val 6522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5065776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Unified Control Dashboard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749040" y="5065776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4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Brings all four modules into one live view for police, SDRF and volunteers so response teams are sent to the right place, once.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04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WE'RE DIFFERENT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11183112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6976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662672" y="11887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Safety Apps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674352" y="11887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FD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Suraksha Setu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11183112" cy="576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1691640"/>
            <a:ext cx="69768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Missing-person broadcast to all desks instantly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662672" y="1691640"/>
            <a:ext cx="20116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05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9674352" y="1691640"/>
            <a:ext cx="20116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C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2267712"/>
            <a:ext cx="11183112" cy="576072"/>
          </a:xfrm>
          <a:prstGeom prst="rect">
            <a:avLst/>
          </a:prstGeom>
          <a:solidFill>
            <a:srgbClr val="DCEEE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2267712"/>
            <a:ext cx="69768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crowd-density heatmap for control room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662672" y="2267712"/>
            <a:ext cx="20116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05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9674352" y="2267712"/>
            <a:ext cx="20116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C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2920" y="2843784"/>
            <a:ext cx="11183112" cy="576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" y="2843784"/>
            <a:ext cx="69768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SOS with route-deviation detection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7662672" y="2843784"/>
            <a:ext cx="20116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4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74352" y="2843784"/>
            <a:ext cx="20116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C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02920" y="3419856"/>
            <a:ext cx="11183112" cy="576072"/>
          </a:xfrm>
          <a:prstGeom prst="rect">
            <a:avLst/>
          </a:prstGeom>
          <a:solidFill>
            <a:srgbClr val="DCEEE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5800" y="3419856"/>
            <a:ext cx="69768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Anonymous, evidence-based incident reporting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7662672" y="3419856"/>
            <a:ext cx="20116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05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674352" y="3419856"/>
            <a:ext cx="20116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C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02920" y="3995928"/>
            <a:ext cx="11183112" cy="576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85800" y="3995928"/>
            <a:ext cx="69768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Verified-only sighting posts (curbs misinformation)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7662672" y="3995928"/>
            <a:ext cx="20116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05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674352" y="3995928"/>
            <a:ext cx="20116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C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02920" y="4572000"/>
            <a:ext cx="11183112" cy="576072"/>
          </a:xfrm>
          <a:prstGeom prst="rect">
            <a:avLst/>
          </a:prstGeom>
          <a:solidFill>
            <a:srgbClr val="DCEEEC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85800" y="4572000"/>
            <a:ext cx="69768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dashboard for police, SDRF, volunteers together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7662672" y="4572000"/>
            <a:ext cx="20116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05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9674352" y="4572000"/>
            <a:ext cx="20116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C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04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3566160" cy="3246120"/>
          </a:xfrm>
          <a:prstGeom prst="roundRect">
            <a:avLst>
              <a:gd name="adj" fmla="val 1972"/>
            </a:avLst>
          </a:prstGeom>
          <a:solidFill>
            <a:srgbClr val="DCEEE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04088" y="1353312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45F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Citizens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704088" y="1847088"/>
            <a:ext cx="316382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4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 for missing-person help, SOS and reporting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4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help during personal-safety threats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4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that reports reach the right desk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325112" y="1188720"/>
            <a:ext cx="3566160" cy="3246120"/>
          </a:xfrm>
          <a:prstGeom prst="roundRect">
            <a:avLst>
              <a:gd name="adj" fmla="val 1972"/>
            </a:avLst>
          </a:prstGeom>
          <a:solidFill>
            <a:srgbClr val="DCEEE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26280" y="1353312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45F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Police / Control Room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1847088"/>
            <a:ext cx="316382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4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live dashboard instead of scattered calls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4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 alerts before a situation turns dangerous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4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sighting reports, less misinformation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147304" y="1188720"/>
            <a:ext cx="3566160" cy="3246120"/>
          </a:xfrm>
          <a:prstGeom prst="roundRect">
            <a:avLst>
              <a:gd name="adj" fmla="val 1972"/>
            </a:avLst>
          </a:prstGeom>
          <a:solidFill>
            <a:srgbClr val="DCEEE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348472" y="1353312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45F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Event Organisers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8348472" y="1847088"/>
            <a:ext cx="316382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4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visibility across the whole ground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4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better-targeted deployment of teams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4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defensible incident record after the event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4663440"/>
            <a:ext cx="11183112" cy="1051560"/>
          </a:xfrm>
          <a:prstGeom prst="roundRect">
            <a:avLst>
              <a:gd name="adj" fmla="val 5217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4663440"/>
            <a:ext cx="107259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8FD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Impact: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Suraksha Setu turns scattered calls and paper registers into one coordinated safety net — cutting response time for missing persons, crowd surges and personal-safety threats alike.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04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544068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9050">
            <a:solidFill>
              <a:srgbClr val="DCEE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353312"/>
            <a:ext cx="5038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8C1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Data Privacy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704088" y="1755648"/>
            <a:ext cx="50383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4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 data and live location are sensitive.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04088" y="2468880"/>
            <a:ext cx="5038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4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r>
              <a:rPr lang="en-US" sz="1200" dirty="0">
                <a:solidFill>
                  <a:srgbClr val="24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matching where possible, encrypted storage, auto-delete after the event.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45352" y="1188720"/>
            <a:ext cx="544068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9050">
            <a:solidFill>
              <a:srgbClr val="DCEE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46520" y="1353312"/>
            <a:ext cx="5038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8C1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Network Load at Events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1755648"/>
            <a:ext cx="50383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4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Lakhs of users on one network can overload connectivity.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468880"/>
            <a:ext cx="5038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4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r>
              <a:rPr lang="en-US" sz="1200" dirty="0">
                <a:solidFill>
                  <a:srgbClr val="24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SMS/USSD fallback and offline-first data sync for volunteers.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3593592"/>
            <a:ext cx="544068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9050">
            <a:solidFill>
              <a:srgbClr val="DCEEE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3758184"/>
            <a:ext cx="5038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8C1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False Alerts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704088" y="4160520"/>
            <a:ext cx="50383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4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Panic taps or joke reports could flood the control room.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04088" y="4873752"/>
            <a:ext cx="5038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4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r>
              <a:rPr lang="en-US" sz="1200" dirty="0">
                <a:solidFill>
                  <a:srgbClr val="24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scoring, quick verification step, and accountability for repeat misuse.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45352" y="3593592"/>
            <a:ext cx="544068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9050">
            <a:solidFill>
              <a:srgbClr val="DCEE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46520" y="3758184"/>
            <a:ext cx="5038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8C1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Citizen Adoption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4160520"/>
            <a:ext cx="50383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4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may not install a new app before an emergency happens.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4873752"/>
            <a:ext cx="5038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4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r>
              <a:rPr lang="en-US" sz="1200" dirty="0">
                <a:solidFill>
                  <a:srgbClr val="24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QR-code onboarding at event entry gates and no-login “quick report” mode.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04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&amp; IMPACT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2606040" cy="1737360"/>
          </a:xfrm>
          <a:prstGeom prst="roundRect">
            <a:avLst>
              <a:gd name="adj" fmla="val 3684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67512" y="1371600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8FD3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&lt;15 min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1965960"/>
            <a:ext cx="2276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response time for a missing-person case, down from 1hr 50min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337560" y="1188720"/>
            <a:ext cx="2606040" cy="1737360"/>
          </a:xfrm>
          <a:prstGeom prst="roundRect">
            <a:avLst>
              <a:gd name="adj" fmla="val 3684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502152" y="1371600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8FD3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Low-Cost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3502152" y="1965960"/>
            <a:ext cx="2276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open APIs (Maps, FCM) and existing CCTV — no new hardware required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72200" y="1188720"/>
            <a:ext cx="2606040" cy="1737360"/>
          </a:xfrm>
          <a:prstGeom prst="roundRect">
            <a:avLst>
              <a:gd name="adj" fmla="val 3684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36792" y="1371600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8FD3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 Scale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6336792" y="1965960"/>
            <a:ext cx="2276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for a lakh-strong gathering or a single late-night auto ride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006840" y="1188720"/>
            <a:ext cx="2606040" cy="1737360"/>
          </a:xfrm>
          <a:prstGeom prst="roundRect">
            <a:avLst>
              <a:gd name="adj" fmla="val 3684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71432" y="1371600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8FD3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Phases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9171432" y="1965960"/>
            <a:ext cx="2276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at one event → city-wide rollout → state integration with 100/108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45F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Is Achievable in a Hackathon Timeline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370332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37033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4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 (SOS alert, reporting, alert broadcast) use standard mobile + cloud APIs — buildable as a working prototype within the hackathon.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429768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42976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4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Crowd-density and face-matching can be demoed on sample CCTV footage using pre-trained, lightweight ML models.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489204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" y="489204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4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government infrastructure needed at pilot stage — rides on smartphones, existing CCTV and current helpline numbers.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04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502920" y="1216152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133856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Crowd Prediction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44475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dangerous density 10-15 minutes ahead using historical event data.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2240280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157984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Surveillance Feed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46888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live drone footage into the crowd-density dashboard for open grounds.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3264408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3182112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SOS Band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493008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low-cost band for children/elderly that triggers an alert without needing a phone.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4288536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420624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Voice Reporting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517136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incidents by speaking in Marathi, Hindi or English for low-literacy users.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63640" y="1216152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37960" y="1133856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Helpline Integration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144475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100/108 helplines directly into the same control-room dashboard.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63640" y="2240280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37960" y="2157984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for Organisers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537960" y="246888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Post-event reports on hotspots, response times and repeat incident zones.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63640" y="3264408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37960" y="3182112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Volunteer App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3493008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Volunteers can log and relay reports even with patchy event-ground network.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63640" y="4288536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37960" y="420624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Inter-agency API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6537960" y="4517136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API so police, SDRF, fire brigade and hospitals can plug into live alerts.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04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18872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8C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Suraksha Setu </a:t>
            </a:r>
            <a:r>
              <a:rPr lang="en-US" sz="1450" dirty="0">
                <a:solidFill>
                  <a:srgbClr val="24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technology-driven solution that brings missing-person alerts, crowd-density monitoring, personal-safety SOS and anonymous incident reporting onto one coordinated platform for citizens and responders.</a:t>
            </a:r>
            <a:endParaRPr lang="en-US" sz="14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2148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45F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Points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60604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C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60604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4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paper registers with instant, app-wide missing-person alerts.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17296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C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17296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4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the control room a live crowd-density view instead of scattered calls.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3739896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C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3739896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4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any citizen send a silent SOS with live location in a threat.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4306824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C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06824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4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anonymous, evidence-based incident reporting.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4873752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C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4873752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4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Curbs misinformation through verified-account sighting posts.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544068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C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6)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54406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4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Unifies police, SDRF, fire brigade and volunteers on one dashboard.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2468880"/>
            <a:ext cx="1216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0" y="338328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Suraksha Setu — Security Management, </a:t>
            </a:r>
            <a:r>
              <a:rPr lang="en-US" sz="1600" b="1" dirty="0">
                <a:solidFill>
                  <a:srgbClr val="FFFF00"/>
                </a:solidFill>
              </a:rPr>
              <a:t>BUILD-X</a:t>
            </a:r>
          </a:p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0" y="393192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FD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Questions?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1565</Words>
  <Application>Microsoft Office PowerPoint</Application>
  <PresentationFormat>Widescreen</PresentationFormat>
  <Paragraphs>255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Anup Wasankar</cp:lastModifiedBy>
  <cp:revision>2</cp:revision>
  <dcterms:created xsi:type="dcterms:W3CDTF">2026-09-22T05:08:58Z</dcterms:created>
  <dcterms:modified xsi:type="dcterms:W3CDTF">2026-09-22T06:14:30Z</dcterms:modified>
</cp:coreProperties>
</file>